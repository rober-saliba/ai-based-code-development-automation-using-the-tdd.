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69" r:id="rId20"/>
  </p:sldIdLst>
  <p:sldSz cx="12192000" cy="6858000"/>
  <p:notesSz cx="6858000" cy="12192000"/>
  <p:embeddedFontLst>
    <p:embeddedFont>
      <p:font typeface="Instrument Sans Bold" panose="020B0604020202020204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468"/>
    <a:srgbClr val="5B5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74D9D-B95E-40BA-80FF-5044AD830459}" v="2" dt="2026-07-02T19:59:59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6"/>
    <p:restoredTop sz="89779"/>
  </p:normalViewPr>
  <p:slideViewPr>
    <p:cSldViewPr snapToGrid="0" snapToObjects="1">
      <p:cViewPr varScale="1">
        <p:scale>
          <a:sx n="57" d="100"/>
          <a:sy n="57" d="100"/>
        </p:scale>
        <p:origin x="7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saliba" userId="0331f081709382e8" providerId="LiveId" clId="{AFA8BA29-0533-494D-BA9F-0B98BE0A97C1}"/>
    <pc:docChg chg="modSld">
      <pc:chgData name="robert saliba" userId="0331f081709382e8" providerId="LiveId" clId="{AFA8BA29-0533-494D-BA9F-0B98BE0A97C1}" dt="2026-07-02T20:53:31.263" v="156" actId="20577"/>
      <pc:docMkLst>
        <pc:docMk/>
      </pc:docMkLst>
      <pc:sldChg chg="modSp mod">
        <pc:chgData name="robert saliba" userId="0331f081709382e8" providerId="LiveId" clId="{AFA8BA29-0533-494D-BA9F-0B98BE0A97C1}" dt="2026-07-02T20:53:31.263" v="156" actId="20577"/>
        <pc:sldMkLst>
          <pc:docMk/>
          <pc:sldMk cId="0" sldId="257"/>
        </pc:sldMkLst>
        <pc:spChg chg="mod">
          <ac:chgData name="robert saliba" userId="0331f081709382e8" providerId="LiveId" clId="{AFA8BA29-0533-494D-BA9F-0B98BE0A97C1}" dt="2026-07-02T20:29:40.202" v="67" actId="113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bert saliba" userId="0331f081709382e8" providerId="LiveId" clId="{AFA8BA29-0533-494D-BA9F-0B98BE0A97C1}" dt="2026-07-02T20:36:00.626" v="92" actId="113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bert saliba" userId="0331f081709382e8" providerId="LiveId" clId="{AFA8BA29-0533-494D-BA9F-0B98BE0A97C1}" dt="2026-07-02T20:53:31.263" v="156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bert saliba" userId="0331f081709382e8" providerId="LiveId" clId="{AFA8BA29-0533-494D-BA9F-0B98BE0A97C1}" dt="2026-07-02T20:42:09.077" v="151" actId="113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6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2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In our project 2 main things, using AI and TDD (introduction 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3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4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5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ONE BELOW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6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7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Add an introduction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8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Add an introduction sentence. For every new “req” -&gt;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9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10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11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12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13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An introduction sentence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14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15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16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17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18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" panose="020B0004020202020204" pitchFamily="34" charset="0"/>
              </a:rPr>
              <a:t>19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9657513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AI-Based Code Development Automation Using </a:t>
            </a:r>
            <a:endParaRPr lang="en-US" sz="3150" b="1" dirty="0"/>
          </a:p>
        </p:txBody>
      </p:sp>
      <p:sp>
        <p:nvSpPr>
          <p:cNvPr id="3" name="Text 1"/>
          <p:cNvSpPr/>
          <p:nvPr/>
        </p:nvSpPr>
        <p:spPr>
          <a:xfrm>
            <a:off x="661475" y="1076424"/>
            <a:ext cx="547902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Test-Driven Development</a:t>
            </a:r>
            <a:endParaRPr lang="en-US" sz="3150" b="1" dirty="0"/>
          </a:p>
        </p:txBody>
      </p:sp>
      <p:sp>
        <p:nvSpPr>
          <p:cNvPr id="4" name="Text 2"/>
          <p:cNvSpPr/>
          <p:nvPr/>
        </p:nvSpPr>
        <p:spPr>
          <a:xfrm>
            <a:off x="661475" y="178325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15" y="2174577"/>
            <a:ext cx="5080766" cy="3015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91714" y="4490658"/>
            <a:ext cx="1262975" cy="24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Code</a:t>
            </a:r>
            <a:endParaRPr lang="en-US" sz="1500" b="1" dirty="0"/>
          </a:p>
        </p:txBody>
      </p:sp>
      <p:sp>
        <p:nvSpPr>
          <p:cNvPr id="7" name="Text 4"/>
          <p:cNvSpPr/>
          <p:nvPr/>
        </p:nvSpPr>
        <p:spPr>
          <a:xfrm>
            <a:off x="5500020" y="4490658"/>
            <a:ext cx="1262975" cy="24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AI Agent</a:t>
            </a:r>
            <a:endParaRPr lang="en-US" sz="1500" b="1" dirty="0"/>
          </a:p>
        </p:txBody>
      </p:sp>
      <p:sp>
        <p:nvSpPr>
          <p:cNvPr id="8" name="Text 5"/>
          <p:cNvSpPr/>
          <p:nvPr/>
        </p:nvSpPr>
        <p:spPr>
          <a:xfrm>
            <a:off x="3882374" y="4490658"/>
            <a:ext cx="1262975" cy="24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Tests &amp; Spec</a:t>
            </a:r>
            <a:endParaRPr lang="en-US" sz="1500" b="1" dirty="0"/>
          </a:p>
        </p:txBody>
      </p:sp>
      <p:sp>
        <p:nvSpPr>
          <p:cNvPr id="9" name="Text 6"/>
          <p:cNvSpPr/>
          <p:nvPr/>
        </p:nvSpPr>
        <p:spPr>
          <a:xfrm>
            <a:off x="661475" y="5466556"/>
            <a:ext cx="5238421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Presented by:</a:t>
            </a:r>
            <a:r>
              <a:rPr lang="en-US" sz="125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Michael Obeid · Rober Saliba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Project:</a:t>
            </a:r>
            <a:r>
              <a:rPr lang="en-US" sz="125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26-2-D-3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98149" y="5466556"/>
            <a:ext cx="5238421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Supervisors:</a:t>
            </a:r>
            <a:r>
              <a:rPr lang="en-US" sz="125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Dr. Katerina Korenblat · Dr. Dan Lemberg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Advisors:</a:t>
            </a:r>
            <a:r>
              <a:rPr lang="en-US" sz="125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Dr. Elena Ravve · Dr. Elena Kleiman</a:t>
            </a:r>
            <a:endParaRPr lang="en-US" sz="1250" dirty="0"/>
          </a:p>
        </p:txBody>
      </p:sp>
      <p:sp>
        <p:nvSpPr>
          <p:cNvPr id="11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630707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What We Are Going to Do</a:t>
            </a:r>
            <a:endParaRPr lang="en-US" sz="3200" b="1" dirty="0"/>
          </a:p>
        </p:txBody>
      </p:sp>
      <p:sp>
        <p:nvSpPr>
          <p:cNvPr id="4" name="Text 1"/>
          <p:cNvSpPr/>
          <p:nvPr/>
        </p:nvSpPr>
        <p:spPr>
          <a:xfrm>
            <a:off x="803844" y="2077807"/>
            <a:ext cx="2876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AI-driven TDD </a:t>
            </a:r>
            <a: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Investigate whether AI can generate and maintain</a:t>
            </a:r>
            <a:b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 inside using TDD approach. </a:t>
            </a:r>
          </a:p>
        </p:txBody>
      </p:sp>
      <p:sp>
        <p:nvSpPr>
          <p:cNvPr id="6" name="Text 2"/>
          <p:cNvSpPr/>
          <p:nvPr/>
        </p:nvSpPr>
        <p:spPr>
          <a:xfrm>
            <a:off x="803844" y="321187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Inputs </a:t>
            </a:r>
            <a: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a specification file, ordered unit tests, an empty project or </a:t>
            </a:r>
            <a:b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existing code as input.</a:t>
            </a:r>
          </a:p>
        </p:txBody>
      </p:sp>
      <p:sp>
        <p:nvSpPr>
          <p:cNvPr id="7" name="Text 3"/>
          <p:cNvSpPr/>
          <p:nvPr/>
        </p:nvSpPr>
        <p:spPr>
          <a:xfrm>
            <a:off x="1795517" y="3220244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03844" y="4576333"/>
            <a:ext cx="28062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05468"/>
                </a:solidFill>
                <a:latin typeface="Aptos" panose="020B0004020202020204" pitchFamily="34" charset="0"/>
              </a:rPr>
              <a:t>Incremental</a:t>
            </a:r>
            <a:r>
              <a:rPr lang="en-US" sz="2000" b="1" dirty="0">
                <a:solidFill>
                  <a:srgbClr val="505468"/>
                </a:solidFill>
              </a:rPr>
              <a:t> </a:t>
            </a:r>
            <a:r>
              <a:rPr lang="en-US" sz="2000" b="1" dirty="0">
                <a:solidFill>
                  <a:srgbClr val="505468"/>
                </a:solidFill>
                <a:latin typeface="Aptos" panose="020B0004020202020204" pitchFamily="34" charset="0"/>
              </a:rPr>
              <a:t>&amp; Controlled </a:t>
            </a:r>
            <a:r>
              <a:rPr lang="en-US" sz="2000" dirty="0">
                <a:solidFill>
                  <a:srgbClr val="505468"/>
                </a:solidFill>
              </a:rPr>
              <a:t>- </a:t>
            </a:r>
            <a:r>
              <a:rPr lang="en-IL" sz="2000" dirty="0">
                <a:solidFill>
                  <a:srgbClr val="505468"/>
                </a:solidFill>
              </a:rPr>
              <a:t>Guide the AI to make only the minimal changes needed for the current</a:t>
            </a:r>
            <a:br>
              <a:rPr lang="en-US" sz="2000" dirty="0">
                <a:solidFill>
                  <a:srgbClr val="505468"/>
                </a:solidFill>
              </a:rPr>
            </a:br>
            <a:r>
              <a:rPr lang="en-IL" sz="2000" dirty="0">
                <a:solidFill>
                  <a:srgbClr val="505468"/>
                </a:solidFill>
              </a:rPr>
              <a:t> TDD step.</a:t>
            </a:r>
          </a:p>
        </p:txBody>
      </p:sp>
      <p:sp>
        <p:nvSpPr>
          <p:cNvPr id="10" name="Text 5"/>
          <p:cNvSpPr/>
          <p:nvPr/>
        </p:nvSpPr>
        <p:spPr>
          <a:xfrm>
            <a:off x="1795517" y="4354314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03844" y="5703259"/>
            <a:ext cx="2501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Previous Work </a:t>
            </a:r>
            <a:r>
              <a:rPr lang="en-US" sz="2000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Preserve previous functionality and prevent unnecessary full rewrites.</a:t>
            </a:r>
            <a:endParaRPr lang="en-US" sz="2000" dirty="0">
              <a:solidFill>
                <a:srgbClr val="505468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1795517" y="5488384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4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FDD2C7E-14A2-6D99-CA52-D1F6685CC285}"/>
              </a:ext>
            </a:extLst>
          </p:cNvPr>
          <p:cNvSpPr/>
          <p:nvPr/>
        </p:nvSpPr>
        <p:spPr>
          <a:xfrm>
            <a:off x="803844" y="1403335"/>
            <a:ext cx="2876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L" sz="2000" dirty="0">
                <a:solidFill>
                  <a:srgbClr val="505468"/>
                </a:solidFill>
                <a:latin typeface="Aptos" panose="020B0004020202020204" pitchFamily="34" charset="0"/>
              </a:rPr>
              <a:t>Design and implement an IDE for automated TDD development.</a:t>
            </a:r>
            <a:endParaRPr lang="en-US" sz="2000" dirty="0">
              <a:solidFill>
                <a:srgbClr val="505468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Why TDD and AI?</a:t>
            </a:r>
            <a:endParaRPr lang="en-US" sz="32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06550"/>
            <a:ext cx="5090489" cy="2447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2096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Artificial Intelligence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77479" y="2305248"/>
            <a:ext cx="456007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Generates source code quickly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Analyzes existing projects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Supports debugging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Modify multiple files</a:t>
            </a:r>
            <a:endParaRPr lang="en-US" sz="1700" dirty="0">
              <a:solidFill>
                <a:srgbClr val="505468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9471" y="1606550"/>
            <a:ext cx="5317000" cy="2447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5475" y="1820962"/>
            <a:ext cx="28628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Test-Driven Development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535474" y="2305248"/>
            <a:ext cx="4994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Defines expected behavior before implementation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Validates each step automatically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Requires incremental development</a:t>
            </a:r>
            <a:endParaRPr lang="en-US" sz="1700" dirty="0">
              <a:solidFill>
                <a:srgbClr val="505468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Protects against regression errors</a:t>
            </a:r>
            <a:endParaRPr lang="en-US" sz="1700" dirty="0">
              <a:solidFill>
                <a:srgbClr val="505468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661475" y="435282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4620518"/>
            <a:ext cx="236234" cy="189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45890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Core idea: Use TDD to guide reliable, incremental AI code generation.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2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514545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Why Is This Not Trivial?</a:t>
            </a:r>
            <a:endParaRPr lang="en-US" sz="3200" b="1" dirty="0"/>
          </a:p>
        </p:txBody>
      </p:sp>
      <p:sp>
        <p:nvSpPr>
          <p:cNvPr id="3" name="Shape 1"/>
          <p:cNvSpPr/>
          <p:nvPr/>
        </p:nvSpPr>
        <p:spPr>
          <a:xfrm>
            <a:off x="6086323" y="1339850"/>
            <a:ext cx="19050" cy="4908748"/>
          </a:xfrm>
          <a:prstGeom prst="roundRect">
            <a:avLst>
              <a:gd name="adj" fmla="val 369200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642425" y="1339850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16153" y="1513582"/>
            <a:ext cx="400248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L" dirty="0">
                <a:solidFill>
                  <a:srgbClr val="505468"/>
                </a:solidFill>
              </a:rPr>
              <a:t>• Tests provide examples, but do not fully explain the</a:t>
            </a:r>
          </a:p>
          <a:p>
            <a:r>
              <a:rPr lang="en-IL" dirty="0">
                <a:solidFill>
                  <a:srgbClr val="505468"/>
                </a:solidFill>
              </a:rPr>
              <a:t> intended logic, structure, or edge cases.</a:t>
            </a:r>
          </a:p>
        </p:txBody>
      </p:sp>
      <p:sp>
        <p:nvSpPr>
          <p:cNvPr id="6" name="Text 4"/>
          <p:cNvSpPr/>
          <p:nvPr/>
        </p:nvSpPr>
        <p:spPr>
          <a:xfrm>
            <a:off x="816153" y="1864221"/>
            <a:ext cx="509326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14897" y="2641203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282275" y="2814935"/>
            <a:ext cx="5093267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L" dirty="0">
                <a:solidFill>
                  <a:srgbClr val="505468"/>
                </a:solidFill>
              </a:rPr>
              <a:t>• The AI must “understand” the specification, previous tests, current source code, and project history.</a:t>
            </a:r>
          </a:p>
        </p:txBody>
      </p:sp>
      <p:sp>
        <p:nvSpPr>
          <p:cNvPr id="9" name="Shape 7"/>
          <p:cNvSpPr/>
          <p:nvPr/>
        </p:nvSpPr>
        <p:spPr>
          <a:xfrm>
            <a:off x="642425" y="3942556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16153" y="4116288"/>
            <a:ext cx="32909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L" dirty="0">
                <a:solidFill>
                  <a:srgbClr val="505468"/>
                </a:solidFill>
              </a:rPr>
              <a:t>• LLMs often rewrite entire files instead of changing</a:t>
            </a:r>
            <a:br>
              <a:rPr lang="en-IL" dirty="0">
                <a:solidFill>
                  <a:srgbClr val="505468"/>
                </a:solidFill>
              </a:rPr>
            </a:br>
            <a:r>
              <a:rPr lang="en-IL" dirty="0">
                <a:solidFill>
                  <a:srgbClr val="505468"/>
                </a:solidFill>
              </a:rPr>
              <a:t> only the necessary code.</a:t>
            </a:r>
          </a:p>
        </p:txBody>
      </p:sp>
      <p:sp>
        <p:nvSpPr>
          <p:cNvPr id="11" name="Shape 9"/>
          <p:cNvSpPr/>
          <p:nvPr/>
        </p:nvSpPr>
        <p:spPr>
          <a:xfrm>
            <a:off x="6114897" y="5243909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282275" y="5417641"/>
            <a:ext cx="431174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L" dirty="0">
                <a:solidFill>
                  <a:srgbClr val="505468"/>
                </a:solidFill>
              </a:rPr>
              <a:t>• Every update must pass the new test without </a:t>
            </a:r>
          </a:p>
          <a:p>
            <a:r>
              <a:rPr lang="en-IL" dirty="0">
                <a:solidFill>
                  <a:srgbClr val="505468"/>
                </a:solidFill>
              </a:rPr>
              <a:t>breaking previous tests.</a:t>
            </a:r>
          </a:p>
        </p:txBody>
      </p:sp>
      <p:sp>
        <p:nvSpPr>
          <p:cNvPr id="13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Project Objectives</a:t>
            </a:r>
            <a:endParaRPr lang="en-US" sz="32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848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97199"/>
            <a:ext cx="27611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Determine correct Input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260588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48848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197199"/>
            <a:ext cx="29619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Achieve Code Consistency</a:t>
            </a:r>
            <a:endParaRPr lang="en-US" sz="1850" dirty="0">
              <a:solidFill>
                <a:srgbClr val="505468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86323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995043"/>
            <a:ext cx="26421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L" dirty="0">
                <a:solidFill>
                  <a:srgbClr val="505468"/>
                </a:solidFill>
              </a:rPr>
              <a:t>Compare AI-driven TDD with manual development</a:t>
            </a:r>
          </a:p>
        </p:txBody>
      </p:sp>
      <p:sp>
        <p:nvSpPr>
          <p:cNvPr id="10" name="Text 5"/>
          <p:cNvSpPr/>
          <p:nvPr/>
        </p:nvSpPr>
        <p:spPr>
          <a:xfrm>
            <a:off x="661475" y="440372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286323"/>
            <a:ext cx="472468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13915" y="3995043"/>
            <a:ext cx="31236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Automate the TDD Lifecycle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6213915" y="440372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61475" y="491877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186462"/>
            <a:ext cx="236234" cy="1890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5723" y="515500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Goal: Study when AI can safely maintain code — not just generate it once.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7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850313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Algorithmic Challenges &amp; Solutions</a:t>
            </a:r>
            <a:endParaRPr lang="en-US" sz="32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556" y="1724102"/>
            <a:ext cx="2563947" cy="10336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560" y="1938513"/>
            <a:ext cx="20335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Eliminate Full-file rewriting</a:t>
            </a:r>
            <a:endParaRPr lang="en-US" sz="1500" dirty="0">
              <a:solidFill>
                <a:srgbClr val="505468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457" y="4400844"/>
            <a:ext cx="2564046" cy="1033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662" y="4615255"/>
            <a:ext cx="20336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Eliminate Unsupported functionality</a:t>
            </a:r>
            <a:endParaRPr lang="en-US" sz="1500" dirty="0">
              <a:solidFill>
                <a:srgbClr val="505468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7875" y="1735151"/>
            <a:ext cx="2563947" cy="10336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83879" y="1949563"/>
            <a:ext cx="20335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Eliminate Breaking previous behavior</a:t>
            </a:r>
            <a:endParaRPr lang="en-US" sz="1500" dirty="0">
              <a:solidFill>
                <a:srgbClr val="505468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7776" y="4423468"/>
            <a:ext cx="2564046" cy="10336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83779" y="4637880"/>
            <a:ext cx="20336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Eliminate Loss of long-term context</a:t>
            </a:r>
            <a:endParaRPr lang="en-US" sz="1500" dirty="0">
              <a:solidFill>
                <a:srgbClr val="505468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3500334" y="2137302"/>
            <a:ext cx="2450741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 sz="1500" dirty="0">
              <a:solidFill>
                <a:srgbClr val="505468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3695691" y="2332663"/>
            <a:ext cx="20600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Pass current source code every iteration</a:t>
            </a:r>
            <a:endParaRPr lang="en-US" sz="1500" dirty="0">
              <a:solidFill>
                <a:srgbClr val="505468"/>
              </a:solidFill>
            </a:endParaRPr>
          </a:p>
        </p:txBody>
      </p:sp>
      <p:sp>
        <p:nvSpPr>
          <p:cNvPr id="15" name="Shape 9"/>
          <p:cNvSpPr/>
          <p:nvPr/>
        </p:nvSpPr>
        <p:spPr>
          <a:xfrm>
            <a:off x="3500334" y="4661281"/>
            <a:ext cx="2450741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 sz="1500">
              <a:solidFill>
                <a:srgbClr val="505468"/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3695691" y="4856642"/>
            <a:ext cx="20600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Use an immutable specification file</a:t>
            </a:r>
            <a:endParaRPr lang="en-US" sz="1500" dirty="0">
              <a:solidFill>
                <a:srgbClr val="505468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502653" y="2141093"/>
            <a:ext cx="2450741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 sz="1500">
              <a:solidFill>
                <a:srgbClr val="505468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9698010" y="2336455"/>
            <a:ext cx="20600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Run the full test suite after every update</a:t>
            </a:r>
            <a:endParaRPr lang="en-US" sz="1500" dirty="0">
              <a:solidFill>
                <a:srgbClr val="505468"/>
              </a:solidFill>
            </a:endParaRPr>
          </a:p>
        </p:txBody>
      </p:sp>
      <p:sp>
        <p:nvSpPr>
          <p:cNvPr id="19" name="Shape 13"/>
          <p:cNvSpPr/>
          <p:nvPr/>
        </p:nvSpPr>
        <p:spPr>
          <a:xfrm>
            <a:off x="9502653" y="4676424"/>
            <a:ext cx="2450741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 sz="1500">
              <a:solidFill>
                <a:srgbClr val="505468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9698010" y="4871786"/>
            <a:ext cx="20600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Save changes and session history</a:t>
            </a:r>
            <a:endParaRPr lang="en-US" sz="1500" dirty="0">
              <a:solidFill>
                <a:srgbClr val="505468"/>
              </a:solidFill>
            </a:endParaRPr>
          </a:p>
        </p:txBody>
      </p:sp>
      <p:sp>
        <p:nvSpPr>
          <p:cNvPr id="21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6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C44FA7CF-DA2E-917C-3639-7F678BC480AB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2929503" y="2240933"/>
            <a:ext cx="570831" cy="394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A455B749-303A-07C1-5A6D-820F3B00B339}"/>
              </a:ext>
            </a:extLst>
          </p:cNvPr>
          <p:cNvCxnSpPr>
            <a:cxnSpLocks/>
          </p:cNvCxnSpPr>
          <p:nvPr/>
        </p:nvCxnSpPr>
        <p:spPr>
          <a:xfrm>
            <a:off x="2916509" y="4782517"/>
            <a:ext cx="570831" cy="394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6CBCF6C7-B749-233E-1402-C65ECCAF9B7C}"/>
              </a:ext>
            </a:extLst>
          </p:cNvPr>
          <p:cNvCxnSpPr>
            <a:cxnSpLocks/>
          </p:cNvCxnSpPr>
          <p:nvPr/>
        </p:nvCxnSpPr>
        <p:spPr>
          <a:xfrm>
            <a:off x="8912773" y="2237457"/>
            <a:ext cx="570831" cy="394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4DF7C33-C7B2-31DA-53C0-96FCAAAE0DFE}"/>
              </a:ext>
            </a:extLst>
          </p:cNvPr>
          <p:cNvCxnSpPr>
            <a:cxnSpLocks/>
          </p:cNvCxnSpPr>
          <p:nvPr/>
        </p:nvCxnSpPr>
        <p:spPr>
          <a:xfrm>
            <a:off x="8912773" y="4893093"/>
            <a:ext cx="570831" cy="394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841473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Implementation Challenges &amp; Solutions</a:t>
            </a:r>
            <a:endParaRPr lang="en-US" sz="3200" b="1" dirty="0"/>
          </a:p>
        </p:txBody>
      </p:sp>
      <p:sp>
        <p:nvSpPr>
          <p:cNvPr id="3" name="Shape 1"/>
          <p:cNvSpPr/>
          <p:nvPr/>
        </p:nvSpPr>
        <p:spPr>
          <a:xfrm>
            <a:off x="6086323" y="1339850"/>
            <a:ext cx="19050" cy="4908748"/>
          </a:xfrm>
          <a:prstGeom prst="roundRect">
            <a:avLst>
              <a:gd name="adj" fmla="val 369200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2425" y="1339850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16153" y="1513582"/>
            <a:ext cx="326600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 Missing Java, Maven, or Gradle</a:t>
            </a:r>
            <a:endParaRPr lang="en-US" sz="1600" dirty="0">
              <a:solidFill>
                <a:srgbClr val="505468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16153" y="1864221"/>
            <a:ext cx="509326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✓ </a:t>
            </a:r>
            <a:r>
              <a:rPr lang="en-US" sz="1300" b="1" dirty="0">
                <a:solidFill>
                  <a:srgbClr val="50546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Solution:</a:t>
            </a: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Detect build environment and install required tools</a:t>
            </a:r>
            <a:endParaRPr lang="en-US" sz="1300" dirty="0">
              <a:solidFill>
                <a:srgbClr val="505468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114897" y="2641203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82275" y="2814935"/>
            <a:ext cx="428227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 Changes may affect multiple source files</a:t>
            </a:r>
            <a:endParaRPr lang="en-US" sz="1600" dirty="0">
              <a:solidFill>
                <a:srgbClr val="50546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282275" y="3165574"/>
            <a:ext cx="509326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✓ </a:t>
            </a:r>
            <a:r>
              <a:rPr lang="en-US" sz="1300" b="1" dirty="0">
                <a:solidFill>
                  <a:srgbClr val="50546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Solution:</a:t>
            </a: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Synchronize updates across related files and classes</a:t>
            </a:r>
            <a:endParaRPr lang="en-US" sz="1300" dirty="0">
              <a:solidFill>
                <a:srgbClr val="505468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425" y="3942556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16153" y="4116288"/>
            <a:ext cx="47945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IL" sz="1600" dirty="0">
                <a:solidFill>
                  <a:srgbClr val="505468"/>
                </a:solidFill>
                <a:latin typeface="Aptos" panose="020B0004020202020204" pitchFamily="34" charset="0"/>
              </a:rPr>
              <a:t>The generated code could fail to compile or not terminate</a:t>
            </a:r>
            <a:endParaRPr lang="en-US" sz="1600" dirty="0">
              <a:solidFill>
                <a:srgbClr val="50546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6153" y="4466927"/>
            <a:ext cx="509326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✓ </a:t>
            </a:r>
            <a:r>
              <a:rPr lang="en-US" sz="1300" b="1" dirty="0">
                <a:solidFill>
                  <a:srgbClr val="50546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Solution:</a:t>
            </a: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Use isolated execution with timeouts</a:t>
            </a:r>
            <a:endParaRPr lang="en-US" sz="1300" dirty="0">
              <a:solidFill>
                <a:srgbClr val="505468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14897" y="5243909"/>
            <a:ext cx="5434373" cy="1004689"/>
          </a:xfrm>
          <a:prstGeom prst="rect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82275" y="5417641"/>
            <a:ext cx="358319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 External API usage and rate limits</a:t>
            </a:r>
            <a:endParaRPr lang="en-US" sz="1600" dirty="0">
              <a:solidFill>
                <a:srgbClr val="505468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82275" y="5768280"/>
            <a:ext cx="509326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✓ </a:t>
            </a:r>
            <a:r>
              <a:rPr lang="en-US" sz="1300" b="1" dirty="0">
                <a:solidFill>
                  <a:srgbClr val="50546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Solution:</a:t>
            </a:r>
            <a:r>
              <a:rPr lang="en-US" sz="13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Preserve session state and allow retry</a:t>
            </a:r>
            <a:endParaRPr lang="en-US" sz="1300" dirty="0">
              <a:solidFill>
                <a:srgbClr val="505468"/>
              </a:solidFill>
            </a:endParaRPr>
          </a:p>
        </p:txBody>
      </p:sp>
      <p:sp>
        <p:nvSpPr>
          <p:cNvPr id="16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715617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Choosing a Tool for the Demo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We evaluated existing tools that could demonstrate our AI-driven TDD approach.</a:t>
            </a:r>
            <a:endParaRPr lang="en-US" sz="1450" b="1" dirty="0"/>
          </a:p>
        </p:txBody>
      </p:sp>
      <p:sp>
        <p:nvSpPr>
          <p:cNvPr id="4" name="Shape 2"/>
          <p:cNvSpPr/>
          <p:nvPr/>
        </p:nvSpPr>
        <p:spPr>
          <a:xfrm>
            <a:off x="661475" y="20035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28595" y="219888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Standard LLMs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6832" y="26075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Generate code from prompts but lack TDD approach control and persistent workspace awareness.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7359" y="20035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613060" y="2198886"/>
            <a:ext cx="29654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GitHub Copilot Workspace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42716" y="26075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Uses codebase context and natural language to plan changes — but not TDD approach.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33244" y="20035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600364" y="219888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Diffblue Cover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8600" y="26075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Generates unit tests from Java source — the reverse of our approach.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3899198"/>
            <a:ext cx="10868646" cy="1101824"/>
          </a:xfrm>
          <a:prstGeom prst="roundRect">
            <a:avLst>
              <a:gd name="adj" fmla="val 7205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14479" y="40945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Aider ✓ Selected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6832" y="4503241"/>
            <a:ext cx="104779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Reads existing code and test errors, then applies incremental modifications — matches our workflow.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6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524100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Test-Driven Development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5935266"/>
            <a:ext cx="30501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77233" y="5935266"/>
            <a:ext cx="30501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92990" y="5935266"/>
            <a:ext cx="30501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108748" y="5935266"/>
            <a:ext cx="30501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8" name="Added Slide Number"/>
          <p:cNvSpPr txBox="1"/>
          <p:nvPr/>
        </p:nvSpPr>
        <p:spPr>
          <a:xfrm>
            <a:off x="11954798" y="6518779"/>
            <a:ext cx="817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E33A87-9408-C24D-69A1-ED84E981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18581"/>
            <a:ext cx="10553662" cy="5374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66595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System Inputs and Outputs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58293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Inputs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2090837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6832" y="2286198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Immutable Specification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357875" y="2090837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553232" y="2286198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Ordered sequence of unit tests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475" y="3275409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56832" y="347077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Existing or empty Java project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57875" y="3275409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553232" y="3470771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Current source code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475" y="4459982"/>
            <a:ext cx="5203794" cy="693142"/>
          </a:xfrm>
          <a:prstGeom prst="roundRect">
            <a:avLst>
              <a:gd name="adj" fmla="val 114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6832" y="4655344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Compiler and test feedback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2776" y="1582936"/>
            <a:ext cx="55021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Output: Proposed Incremental Code Update</a:t>
            </a:r>
            <a:endParaRPr lang="en-US" sz="1850" b="1" dirty="0">
              <a:solidFill>
                <a:srgbClr val="505468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2776" y="2090837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8133" y="2286198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Passes the current test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29176" y="2090837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24533" y="2286198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Preserves all previous tests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2776" y="3275409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8133" y="347077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Respects the specification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29176" y="3275409"/>
            <a:ext cx="2507394" cy="995561"/>
          </a:xfrm>
          <a:prstGeom prst="roundRect">
            <a:avLst>
              <a:gd name="adj" fmla="val 79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24533" y="347077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Avoids unnecessary rewrites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3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790148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Our Approach: Sequential AI-Driven TDD</a:t>
            </a:r>
            <a:endParaRPr lang="en-US" sz="32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54" y="1650871"/>
            <a:ext cx="6761688" cy="3094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2382" y="4010626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i</a:t>
            </a:r>
            <a:endParaRPr lang="en-US" sz="1500" b="1" dirty="0"/>
          </a:p>
        </p:txBody>
      </p:sp>
      <p:sp>
        <p:nvSpPr>
          <p:cNvPr id="5" name="Text 2"/>
          <p:cNvSpPr/>
          <p:nvPr/>
        </p:nvSpPr>
        <p:spPr>
          <a:xfrm>
            <a:off x="6292543" y="4010626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2</a:t>
            </a:r>
            <a:endParaRPr lang="en-US" sz="1500" b="1" dirty="0"/>
          </a:p>
        </p:txBody>
      </p:sp>
      <p:sp>
        <p:nvSpPr>
          <p:cNvPr id="6" name="Text 3"/>
          <p:cNvSpPr/>
          <p:nvPr/>
        </p:nvSpPr>
        <p:spPr>
          <a:xfrm>
            <a:off x="4701399" y="4010626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1</a:t>
            </a:r>
            <a:endParaRPr lang="en-US" sz="1500" b="1" dirty="0"/>
          </a:p>
        </p:txBody>
      </p:sp>
      <p:sp>
        <p:nvSpPr>
          <p:cNvPr id="7" name="Text 4"/>
          <p:cNvSpPr/>
          <p:nvPr/>
        </p:nvSpPr>
        <p:spPr>
          <a:xfrm>
            <a:off x="3075476" y="4010626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0</a:t>
            </a:r>
            <a:endParaRPr lang="en-US" sz="1500" b="1" dirty="0"/>
          </a:p>
        </p:txBody>
      </p:sp>
      <p:sp>
        <p:nvSpPr>
          <p:cNvPr id="8" name="Text 5"/>
          <p:cNvSpPr/>
          <p:nvPr/>
        </p:nvSpPr>
        <p:spPr>
          <a:xfrm>
            <a:off x="661475" y="4852009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0 — Base Case</a:t>
            </a:r>
            <a:endParaRPr lang="en-US" sz="1450" b="1" dirty="0"/>
          </a:p>
        </p:txBody>
      </p:sp>
      <p:sp>
        <p:nvSpPr>
          <p:cNvPr id="9" name="Text 6"/>
          <p:cNvSpPr/>
          <p:nvPr/>
        </p:nvSpPr>
        <p:spPr>
          <a:xfrm>
            <a:off x="661475" y="5209197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Input: Test Case 0, Specification.txt, empty source file.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Output: Code 0.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86640" y="4852009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Step i — Iteration</a:t>
            </a:r>
            <a:endParaRPr lang="en-US" sz="1450" b="1" dirty="0"/>
          </a:p>
        </p:txBody>
      </p:sp>
      <p:sp>
        <p:nvSpPr>
          <p:cNvPr id="11" name="Text 8"/>
          <p:cNvSpPr/>
          <p:nvPr/>
        </p:nvSpPr>
        <p:spPr>
          <a:xfrm>
            <a:off x="6286640" y="5209197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Input: previous tests, new Test i, immutable spec, Code i−1.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Output: incrementally updated Code i.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52893" y="5781973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5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4303803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System Workflow Flowchart</a:t>
            </a:r>
            <a:endParaRPr lang="en-US" sz="3000" b="1" dirty="0"/>
          </a:p>
        </p:txBody>
      </p:sp>
      <p:sp>
        <p:nvSpPr>
          <p:cNvPr id="4" name="Text 1"/>
          <p:cNvSpPr/>
          <p:nvPr/>
        </p:nvSpPr>
        <p:spPr>
          <a:xfrm>
            <a:off x="661475" y="6100663"/>
            <a:ext cx="114783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endParaRPr lang="en-US" sz="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9E87C-469F-BDB5-C331-ADCF2FD0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55" y="1122217"/>
            <a:ext cx="11391556" cy="4655127"/>
          </a:xfrm>
          <a:prstGeom prst="rect">
            <a:avLst/>
          </a:prstGeom>
        </p:spPr>
      </p:pic>
      <p:sp>
        <p:nvSpPr>
          <p:cNvPr id="7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489007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Deployment Diagram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418729"/>
            <a:ext cx="318474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967563" y="1418729"/>
            <a:ext cx="318474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8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89F95-EE7C-51D8-FD5F-9C7BB6ED0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6" y="1250530"/>
            <a:ext cx="11991948" cy="43569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Experimental Setup</a:t>
            </a:r>
            <a:endParaRPr lang="en-US" sz="3200" b="1" dirty="0"/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56832" y="168384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Domain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6832" y="2092523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Real Java Project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347359" y="1488480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42716" y="168384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Dev Environment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42716" y="209252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Java · Maven · JUnit Jupiter · Git &amp; GitHub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033244" y="1488480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8600" y="168384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Project Files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8600" y="209252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Specification.txt · </a:t>
            </a:r>
            <a:r>
              <a:rPr lang="en-US" sz="1450" dirty="0" err="1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SourceFiles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r>
              <a:rPr lang="en-US" sz="1450" dirty="0" err="1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TestFiles</a:t>
            </a: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 · Changes.md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475" y="3081734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6832" y="327709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AI Configurations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6832" y="368577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Aider + OpenAI o3-mini</a:t>
            </a:r>
            <a:endParaRPr lang="en-US" sz="1450" dirty="0">
              <a:solidFill>
                <a:srgbClr val="505468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Aider + Claude Sonnet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0301" y="3081734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85658" y="327709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TDD Principle</a:t>
            </a:r>
            <a:endParaRPr lang="en-US" sz="1850" dirty="0">
              <a:solidFill>
                <a:srgbClr val="505468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85658" y="368577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Each new test drives the next incremental implementation step.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8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769700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Key Findings &amp; Evaluation Criteria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507430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Key Findings</a:t>
            </a:r>
            <a:endParaRPr lang="en-US" sz="1750" b="1" dirty="0">
              <a:solidFill>
                <a:srgbClr val="505468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1988641"/>
            <a:ext cx="269273" cy="269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4966" y="1979811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Model choice strongly affects performance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2877344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966" y="2868513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Incremental editing is achievable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3766046"/>
            <a:ext cx="269273" cy="269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4966" y="3757216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Human-written changes can be preserved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4654748"/>
            <a:ext cx="269273" cy="2692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4966" y="4645918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AI may anticipate future functionality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5543451"/>
            <a:ext cx="269273" cy="2692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4966" y="5534620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Passing tests does not guarantee good design</a:t>
            </a:r>
            <a:endParaRPr lang="en-US" sz="1400" dirty="0">
              <a:solidFill>
                <a:srgbClr val="505468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6321267" y="1507430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Evaluation Criteria</a:t>
            </a:r>
            <a:endParaRPr lang="en-US" sz="1750" b="1" dirty="0">
              <a:solidFill>
                <a:srgbClr val="505468"/>
              </a:solidFill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267" y="1979811"/>
            <a:ext cx="2522375" cy="9699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27746" y="2184698"/>
            <a:ext cx="20110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Does the new test pass?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1979811"/>
            <a:ext cx="2522375" cy="96996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320674" y="2184698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Do all previous tests still pass?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267" y="3120330"/>
            <a:ext cx="2522375" cy="96996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627746" y="3325217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What percentage of code changed?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3120330"/>
            <a:ext cx="2522375" cy="96996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320674" y="3325217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Was unrelated code preserved?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267" y="4260850"/>
            <a:ext cx="2522375" cy="969963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627746" y="4465737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Was the specification respected?</a:t>
            </a:r>
            <a:endParaRPr lang="en-US" sz="1400" dirty="0">
              <a:solidFill>
                <a:srgbClr val="505468"/>
              </a:solidFill>
            </a:endParaRPr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4260850"/>
            <a:ext cx="2522375" cy="96996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320674" y="4465737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Surgical edit or full rewrite?</a:t>
            </a:r>
            <a:endParaRPr lang="en-US" sz="1400" dirty="0">
              <a:solidFill>
                <a:srgbClr val="505468"/>
              </a:solidFill>
            </a:endParaRPr>
          </a:p>
        </p:txBody>
      </p:sp>
      <p:sp>
        <p:nvSpPr>
          <p:cNvPr id="27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6341408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Limitations &amp; Future Work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559123"/>
            <a:ext cx="293531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Current Limitations</a:t>
            </a:r>
            <a:endParaRPr lang="en-US" sz="1800" b="1" dirty="0">
              <a:solidFill>
                <a:srgbClr val="505468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5812"/>
            <a:ext cx="2512156" cy="10134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502" y="2267248"/>
            <a:ext cx="19876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Results depend heavily on the selected model</a:t>
            </a:r>
            <a:endParaRPr lang="en-US" sz="1450" dirty="0">
              <a:solidFill>
                <a:srgbClr val="505468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6784" y="2055812"/>
            <a:ext cx="2512156" cy="10134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69811" y="2267248"/>
            <a:ext cx="19876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AI may anticipate future functionality</a:t>
            </a:r>
            <a:endParaRPr lang="en-US" sz="1450" dirty="0">
              <a:solidFill>
                <a:srgbClr val="505468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52391"/>
            <a:ext cx="2512156" cy="13086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4502" y="3463826"/>
            <a:ext cx="19876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Passing tests do not guarantee good architecture</a:t>
            </a:r>
            <a:endParaRPr lang="en-US" sz="1450" dirty="0">
              <a:solidFill>
                <a:srgbClr val="505468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6784" y="3252391"/>
            <a:ext cx="2512156" cy="13086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69811" y="3463826"/>
            <a:ext cx="19876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Large repositories may exceed context limits</a:t>
            </a:r>
            <a:endParaRPr lang="en-US" sz="1450" dirty="0">
              <a:solidFill>
                <a:srgbClr val="505468"/>
              </a:solidFill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44244"/>
            <a:ext cx="2512156" cy="130869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4502" y="4955679"/>
            <a:ext cx="19876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External APIs introduce latency, cost, and rate limits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6329105" y="1559123"/>
            <a:ext cx="293531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Future Work</a:t>
            </a:r>
            <a:endParaRPr lang="en-US" sz="1800" b="1" dirty="0">
              <a:solidFill>
                <a:srgbClr val="505468"/>
              </a:solidFill>
            </a:endParaRPr>
          </a:p>
        </p:txBody>
      </p:sp>
      <p:sp>
        <p:nvSpPr>
          <p:cNvPr id="15" name="Shape 8"/>
          <p:cNvSpPr/>
          <p:nvPr/>
        </p:nvSpPr>
        <p:spPr>
          <a:xfrm>
            <a:off x="6329105" y="2055812"/>
            <a:ext cx="2512156" cy="975320"/>
          </a:xfrm>
          <a:prstGeom prst="roundRect">
            <a:avLst>
              <a:gd name="adj" fmla="val 801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6521485" y="2248198"/>
            <a:ext cx="21273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Test more complex Java projects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7" name="Shape 10"/>
          <p:cNvSpPr/>
          <p:nvPr/>
        </p:nvSpPr>
        <p:spPr>
          <a:xfrm>
            <a:off x="9024414" y="2055812"/>
            <a:ext cx="2512156" cy="975320"/>
          </a:xfrm>
          <a:prstGeom prst="roundRect">
            <a:avLst>
              <a:gd name="adj" fmla="val 801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9216794" y="2248198"/>
            <a:ext cx="21273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Evaluate API and database scenarios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329105" y="3214291"/>
            <a:ext cx="2512156" cy="1270595"/>
          </a:xfrm>
          <a:prstGeom prst="roundRect">
            <a:avLst>
              <a:gd name="adj" fmla="val 615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6521485" y="3406676"/>
            <a:ext cx="21273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Compare multiple LLMs systematically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9024414" y="3214291"/>
            <a:ext cx="2512156" cy="1270595"/>
          </a:xfrm>
          <a:prstGeom prst="roundRect">
            <a:avLst>
              <a:gd name="adj" fmla="val 615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2" name="Text 15"/>
          <p:cNvSpPr/>
          <p:nvPr/>
        </p:nvSpPr>
        <p:spPr>
          <a:xfrm>
            <a:off x="9216794" y="3406676"/>
            <a:ext cx="212739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Measure rewrite percentages automatically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329105" y="4668044"/>
            <a:ext cx="2512156" cy="1270595"/>
          </a:xfrm>
          <a:prstGeom prst="roundRect">
            <a:avLst>
              <a:gd name="adj" fmla="val 615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6521485" y="4860429"/>
            <a:ext cx="212739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Compare AI-driven TDD with manual development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5" name="Shape 18"/>
          <p:cNvSpPr/>
          <p:nvPr/>
        </p:nvSpPr>
        <p:spPr>
          <a:xfrm>
            <a:off x="9024414" y="4668044"/>
            <a:ext cx="2512156" cy="1270595"/>
          </a:xfrm>
          <a:prstGeom prst="roundRect">
            <a:avLst>
              <a:gd name="adj" fmla="val 615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6" name="Text 19"/>
          <p:cNvSpPr/>
          <p:nvPr/>
        </p:nvSpPr>
        <p:spPr>
          <a:xfrm>
            <a:off x="9216794" y="4860429"/>
            <a:ext cx="21273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Build a dedicated IDE</a:t>
            </a:r>
            <a:endParaRPr lang="en-US" sz="1450" dirty="0">
              <a:solidFill>
                <a:srgbClr val="505468"/>
              </a:solidFill>
            </a:endParaRPr>
          </a:p>
        </p:txBody>
      </p:sp>
      <p:sp>
        <p:nvSpPr>
          <p:cNvPr id="27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525" y="510331"/>
            <a:ext cx="433079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3200" b="1" dirty="0"/>
          </a:p>
        </p:txBody>
      </p:sp>
      <p:sp>
        <p:nvSpPr>
          <p:cNvPr id="3" name="Shape 1"/>
          <p:cNvSpPr/>
          <p:nvPr/>
        </p:nvSpPr>
        <p:spPr>
          <a:xfrm>
            <a:off x="661475" y="1219299"/>
            <a:ext cx="19050" cy="529729"/>
          </a:xfrm>
          <a:prstGeom prst="roundRect">
            <a:avLst>
              <a:gd name="adj" fmla="val 59999"/>
            </a:avLst>
          </a:prstGeom>
          <a:solidFill>
            <a:srgbClr val="505468"/>
          </a:solidFill>
          <a:ln/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10299" y="1363007"/>
            <a:ext cx="11255093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19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This project investigates whether an LLM can act as a disciplined developer inside a TDD lifecycle approach.</a:t>
            </a:r>
            <a:endParaRPr lang="en-US" sz="1600" dirty="0">
              <a:solidFill>
                <a:srgbClr val="505468"/>
              </a:solidFill>
            </a:endParaRPr>
          </a:p>
        </p:txBody>
      </p:sp>
      <p:sp>
        <p:nvSpPr>
          <p:cNvPr id="20" name="Text 11"/>
          <p:cNvSpPr/>
          <p:nvPr/>
        </p:nvSpPr>
        <p:spPr>
          <a:xfrm>
            <a:off x="661475" y="5355530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endParaRPr lang="en-US" sz="1150" dirty="0"/>
          </a:p>
        </p:txBody>
      </p:sp>
      <p:sp>
        <p:nvSpPr>
          <p:cNvPr id="21" name="Shape 12"/>
          <p:cNvSpPr/>
          <p:nvPr/>
        </p:nvSpPr>
        <p:spPr>
          <a:xfrm>
            <a:off x="661475" y="5700216"/>
            <a:ext cx="10868745" cy="509885"/>
          </a:xfrm>
          <a:prstGeom prst="roundRect">
            <a:avLst>
              <a:gd name="adj" fmla="val 1226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9" y="5902027"/>
            <a:ext cx="186031" cy="14882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45154" y="5854601"/>
            <a:ext cx="1084582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 b="1" dirty="0">
                <a:solidFill>
                  <a:srgbClr val="50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message: the goal is not only to generate code, but to make AI maintain code safely, incrementally, and transparently.</a:t>
            </a:r>
            <a:endParaRPr lang="en-US" sz="1200" dirty="0">
              <a:solidFill>
                <a:srgbClr val="505468"/>
              </a:solidFill>
            </a:endParaRPr>
          </a:p>
        </p:txBody>
      </p:sp>
      <p:sp>
        <p:nvSpPr>
          <p:cNvPr id="24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F603407-5800-D59C-36D9-A00A257CF6B8}"/>
              </a:ext>
            </a:extLst>
          </p:cNvPr>
          <p:cNvSpPr/>
          <p:nvPr/>
        </p:nvSpPr>
        <p:spPr>
          <a:xfrm>
            <a:off x="914400" y="2148840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71796854-33C6-62D1-8815-5DAC5629D0F0}"/>
              </a:ext>
            </a:extLst>
          </p:cNvPr>
          <p:cNvSpPr/>
          <p:nvPr/>
        </p:nvSpPr>
        <p:spPr>
          <a:xfrm>
            <a:off x="1078992" y="2715768"/>
            <a:ext cx="442569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Sequential unit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Immutable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Existing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Compiler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Incremental AI-generated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Human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Persistent history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8A16A00-8BC8-90D3-22A3-9468DADEE0C9}"/>
              </a:ext>
            </a:extLst>
          </p:cNvPr>
          <p:cNvSpPr/>
          <p:nvPr/>
        </p:nvSpPr>
        <p:spPr>
          <a:xfrm>
            <a:off x="1078992" y="231343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05468"/>
                </a:solidFill>
                <a:latin typeface="Aptos" panose="020B0004020202020204" pitchFamily="34" charset="0"/>
              </a:rPr>
              <a:t>Our approach combines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A6716E64-BA97-2B58-22DD-06181C1588E3}"/>
              </a:ext>
            </a:extLst>
          </p:cNvPr>
          <p:cNvSpPr/>
          <p:nvPr/>
        </p:nvSpPr>
        <p:spPr>
          <a:xfrm>
            <a:off x="6492240" y="2148840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L">
              <a:solidFill>
                <a:srgbClr val="505468"/>
              </a:solidFill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C52C7034-B54C-FFB3-717D-C44F0E4F90CA}"/>
              </a:ext>
            </a:extLst>
          </p:cNvPr>
          <p:cNvSpPr/>
          <p:nvPr/>
        </p:nvSpPr>
        <p:spPr>
          <a:xfrm>
            <a:off x="6656832" y="231343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05468"/>
                </a:solidFill>
                <a:latin typeface="Aptos" panose="020B0004020202020204" pitchFamily="34" charset="0"/>
              </a:rPr>
              <a:t>Initial experiments show</a:t>
            </a: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0F6CE5AC-FBE1-D207-E0F8-43482E6EBD49}"/>
              </a:ext>
            </a:extLst>
          </p:cNvPr>
          <p:cNvSpPr/>
          <p:nvPr/>
        </p:nvSpPr>
        <p:spPr>
          <a:xfrm>
            <a:off x="6656832" y="2715768"/>
            <a:ext cx="442569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05468"/>
                </a:solidFill>
                <a:latin typeface="Aptos" panose="020B0004020202020204" pitchFamily="34" charset="0"/>
              </a:rPr>
              <a:t>Capable models can perform targeted updates and preserve previous behavior, but model dependency, anticipatory coding, and architectural quality remain key challenges.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3105072" y="2305844"/>
            <a:ext cx="598155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Thank You for Listening!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2165891" y="3179961"/>
            <a:ext cx="7859814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Questions &amp; Discussion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356682" y="4278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Aptos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Can AI become a reliable participant in the Test-Driven Development lifecycle?</a:t>
            </a:r>
            <a:endParaRPr lang="en-US" sz="1450" dirty="0"/>
          </a:p>
        </p:txBody>
      </p:sp>
      <p:sp>
        <p:nvSpPr>
          <p:cNvPr id="6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433079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505468"/>
                </a:solidFill>
                <a:latin typeface="Aptos" panose="020B0004020202020204" pitchFamily="34" charset="0"/>
                <a:ea typeface="Instrument Sans SemiBold" pitchFamily="34" charset="-122"/>
                <a:cs typeface="Instrument Sans SemiBold" pitchFamily="34" charset="-120"/>
              </a:rPr>
              <a:t>Use Case Diagram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40" y="922084"/>
            <a:ext cx="7235322" cy="5724375"/>
          </a:xfrm>
          <a:prstGeom prst="rect">
            <a:avLst/>
          </a:prstGeom>
        </p:spPr>
      </p:pic>
      <p:sp>
        <p:nvSpPr>
          <p:cNvPr id="4" name="Added Slide Number"/>
          <p:cNvSpPr txBox="1"/>
          <p:nvPr/>
        </p:nvSpPr>
        <p:spPr>
          <a:xfrm>
            <a:off x="11873046" y="6518779"/>
            <a:ext cx="1635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dirty="0">
                <a:solidFill>
                  <a:srgbClr val="5A5E70"/>
                </a:solidFill>
                <a:latin typeface="Aptos" panose="020B0004020202020204" pitchFamily="34" charset="0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1011</Words>
  <Application>Microsoft Office PowerPoint</Application>
  <PresentationFormat>Widescreen</PresentationFormat>
  <Paragraphs>194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Instrument Sans Bold</vt:lpstr>
      <vt:lpstr>Twemoji Mozilla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robert saliba</cp:lastModifiedBy>
  <cp:revision>7</cp:revision>
  <dcterms:created xsi:type="dcterms:W3CDTF">2026-06-27T11:51:08Z</dcterms:created>
  <dcterms:modified xsi:type="dcterms:W3CDTF">2026-07-02T20:53:40Z</dcterms:modified>
</cp:coreProperties>
</file>